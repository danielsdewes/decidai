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Unidades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Suco
Integral</c:v>
                  </c:pt>
                  <c:pt idx="1">
                    <c:v>Polpa
Congelada</c:v>
                  </c:pt>
                  <c:pt idx="2">
                    <c:v>Geleia
Artesanal</c:v>
                  </c:pt>
                  <c:pt idx="3">
                    <c:v>Doce
em Barra</c:v>
                  </c:pt>
                  <c:pt idx="4">
                    <c:v>Néctar
Light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1368</c:v>
                </c:pt>
                <c:pt idx="1">
                  <c:v>1023</c:v>
                </c:pt>
                <c:pt idx="2">
                  <c:v>852</c:v>
                </c:pt>
                <c:pt idx="3">
                  <c:v>15</c:v>
                </c:pt>
                <c:pt idx="4">
                  <c:v>1033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13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1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R$/unidade de recurso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1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Orçamento</c:v>
                  </c:pt>
                  <c:pt idx="1">
                    <c:v>Matéria-prima</c:v>
                  </c:pt>
                  <c:pt idx="2">
                    <c:v>Horas máquina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1.23</c:v>
                </c:pt>
                <c:pt idx="1">
                  <c:v>0.68</c:v>
                </c:pt>
                <c:pt idx="2">
                  <c:v>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1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Lucro ótimo (R$)</c:v>
                </c:pt>
              </c:strCache>
            </c:strRef>
          </c:tx>
          <c:spPr>
            <a:solidFill>
              <a:srgbClr val="D9A441"/>
            </a:solidFill>
            <a:ln w="50800" cap="flat">
              <a:solidFill>
                <a:srgbClr val="D9A44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A441"/>
              </a:solidFill>
              <a:ln w="9525" cap="flat">
                <a:solidFill>
                  <a:srgbClr val="D9A44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−20%</c:v>
                  </c:pt>
                  <c:pt idx="1">
                    <c:v>−10%</c:v>
                  </c:pt>
                  <c:pt idx="2">
                    <c:v>base</c:v>
                  </c:pt>
                  <c:pt idx="3">
                    <c:v>+10%</c:v>
                  </c:pt>
                  <c:pt idx="4">
                    <c:v>+20%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14700</c:v>
                </c:pt>
                <c:pt idx="1">
                  <c:v>16500</c:v>
                </c:pt>
                <c:pt idx="2">
                  <c:v>18296</c:v>
                </c:pt>
                <c:pt idx="3">
                  <c:v>18379</c:v>
                </c:pt>
                <c:pt idx="4">
                  <c:v>18379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1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00"/>
          <c:min val="13000"/>
        </c:scaling>
        <c:delete val="0"/>
        <c:axPos val="l"/>
        <c:majorGridlines>
          <c:spPr>
            <a:ln w="6350" cap="flat">
              <a:solidFill>
                <a:srgbClr val="E8ED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1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108960" cy="3108960"/>
          </a:xfrm>
          <a:prstGeom prst="ellipse">
            <a:avLst/>
          </a:prstGeom>
          <a:solidFill>
            <a:srgbClr val="2C3A75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5212080"/>
            <a:ext cx="1554480" cy="1554480"/>
          </a:xfrm>
          <a:prstGeom prst="ellipse">
            <a:avLst/>
          </a:prstGeom>
          <a:solidFill>
            <a:srgbClr val="D9A441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57200"/>
            <a:ext cx="1005840" cy="1005840"/>
          </a:xfrm>
          <a:prstGeom prst="ellipse">
            <a:avLst/>
          </a:prstGeom>
          <a:solidFill>
            <a:srgbClr val="CADCFC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· TÓPICOS ESPECIAIS EM COMPUTAÇÃO II — A (30-772)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DecidAI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Apoio à Decisão para Planejamento de Produção sob Incerteza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no Processo Decisório — Entrega Executiva ao Comitê de Decisão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Dewes  ·  Cesario Stoquero  ·  Samuel Maciel ·  Guilherme Capeletti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72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Santo Ângelo — RS · junho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30 MINUTOS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Roteiro da Apresentação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33172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Pitch do Problema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7548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 que estamos resolvendo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01568" y="192024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3108" y="233172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293108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84448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Fundamentação Teórica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84448" y="4251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30168" y="47548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Shimizu, Markov, Simplex, XAI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54496" y="192024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46036" y="233172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7146036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37376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Demonstração da Solução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37376" y="4251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3096" y="47548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em funcionamento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07424" y="1920240"/>
            <a:ext cx="2606040" cy="4023360"/>
          </a:xfrm>
          <a:prstGeom prst="roundRect">
            <a:avLst>
              <a:gd name="adj" fmla="val 2807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98964" y="2331720"/>
            <a:ext cx="822960" cy="82296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9998964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290304" y="33832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e Crítica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290304" y="4251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36024" y="47548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aprendeu e onde falha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PITCH DO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Problema: decidir a produção no escuro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AgroVale Alimentos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decide, toda semana,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produzir de cada um dos 5 produtos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hoje no feeling e em planilhas, sob demanda incerta e recursos limitados (máquina, matéria-prima e capital de giro).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5760720" cy="1554480"/>
          </a:xfrm>
          <a:prstGeom prst="roundRect">
            <a:avLst>
              <a:gd name="adj" fmla="val 4706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42976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SEMIESTRUTURADO (Shimizu)
</a:t>
            </a:r>
            <a:pPr indent="0" marL="0">
              <a:buNone/>
            </a:pPr>
            <a:r>
              <a:rPr lang="en-US" sz="14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 e lucro são modeláveis; a demanda futura e o julgamento gerencial, não totalmente.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0" y="178308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B85042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86600" y="20116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Superprodução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86600" y="26517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Perdas e custo de estoque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(produtos perecíveis)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66560" y="3840480"/>
            <a:ext cx="484632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8660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Ruptura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86600" y="47091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perdida 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insatisfeito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 · PITCH DO PROBLEMA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 &amp; Objetivos Conflitantes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109728" cy="14173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933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Produção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450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Estabilidade e ocupação eficiente das máquinas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8288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0" y="1828800"/>
            <a:ext cx="109728" cy="14173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19933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Vendas / Comercial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63640" y="245059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alto para nunca perder venda (nível de serviço)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520440"/>
            <a:ext cx="109728" cy="14173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Financeiro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1422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Minimizar capital imobilizado e custo de produção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0" y="352044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0" y="3520440"/>
            <a:ext cx="109728" cy="141732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68503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Direção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63640" y="414223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o lucro respeitando a capacidade instalada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central: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de serviço × custo  —  o SAD torna esse conflito explícito e quantificável.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FUNDAMENTAÇÃO TEÓRICA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Fundamentação: a lógica de Shimizu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“Uma decisão não é apenas um cálculo matemático, mas um processo político e organizacional.”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8346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Subsistema de Dados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vendas + parâmetros de negócio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256032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8346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2628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Subsistema de Modelos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6280" y="4343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→ Simulação → Otimização → XAI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955280" y="2560320"/>
            <a:ext cx="3474720" cy="2468880"/>
          </a:xfrm>
          <a:prstGeom prst="roundRect">
            <a:avLst>
              <a:gd name="adj" fmla="val 2963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834640"/>
            <a:ext cx="640080" cy="64008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0" y="36118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Subsistema de Interface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29600" y="4343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executivo para o decisor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clássica de um Sistema de Apoio à Decisão (SAD)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 · FUNDAMENTAÇÃO TEÓRICA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Teoria à Técnica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029200"/>
                <a:gridCol w="2953512"/>
              </a:tblGrid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Papel na decisão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Conceito da disciplina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Machine Learning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Prevê a demanda futura por produto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5A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Preditiva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Cadeia de Markov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Modela regimes de mercado (baixa / normal / alta)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5A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Processos estocásticos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 Carlo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Gera 2.000 cenários → risco × incerteza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5A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Simplex / PL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 o mix ótimo sob restrições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5A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Pesquisa Operacional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(SHAP + duais + LLM)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1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 a decisão em linguagem de gestor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5A61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Explicabilidade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DEMONSTRAÇÃO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Arquitetura da Solução — o Pipeline de Decisão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633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+ parâmetros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496312" y="2468880"/>
            <a:ext cx="347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98064" y="246888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80944" y="2633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980944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Previsão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980944" y="36576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45736" y="2468880"/>
            <a:ext cx="347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5047488" y="246888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30368" y="2633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230368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Incerteza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230368" y="36576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+ Markov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95160" y="2468880"/>
            <a:ext cx="347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7296912" y="246888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D9A44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79792" y="2633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479792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Decisão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479792" y="36576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Simplex / PL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244584" y="2468880"/>
            <a:ext cx="347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546336" y="2468880"/>
            <a:ext cx="1993392" cy="1920240"/>
          </a:xfrm>
          <a:prstGeom prst="roundRect">
            <a:avLst>
              <a:gd name="adj" fmla="val 3810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729216" y="2633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729216" y="3182112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Explicação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29216" y="3657600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2960" y="49377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Subsistema de Interface: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executivo (Streamlit) consome o pipeline e permite simulações what-if.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DEMONSTRAÇÃO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Demonstração — a IA em Funcionamento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Ajustar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94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Define-se a capacidade da fábrica (máquina, matéria-prima, orçamento)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529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08760" y="2807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21868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prevê, simula e otimiza em segundos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77056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8770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08760" y="383133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 o plano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24281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produzir de cada produto + lucro e risco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01184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011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85546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Entender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52669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Lê-se a explicação (gargalo + justificativa em PT)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498080" y="1828800"/>
            <a:ext cx="411480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0" y="26974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Streamlit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0" y="338328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interativos · gráficos · plano recomendado · explicação · análise what-if.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de backup disponível caso a demo ao vivo falhe.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RESULTADOS E CRÍTICA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 — Plano Ótimo Recomendado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37360"/>
            <a:ext cx="391363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95528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semanal ótimo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2286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R$ 18.295,64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7726680" y="3474720"/>
            <a:ext cx="3913632" cy="2743200"/>
          </a:xfrm>
          <a:prstGeom prst="roundRect">
            <a:avLst>
              <a:gd name="adj" fmla="val 2667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Insight não óbvio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55280" y="411480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 em Barra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quase não é produzido (15 un.): apesar da boa margem, consome recursos demais por unidade. A otimização revela o que a intuição não vê.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RESULTADOS E CRÍTICA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(Monte Carlo) &amp; Gargalo (Simplex)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Distribuição de lucro — 2.000 cenários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109728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médio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23317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R$ 17.271,96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3474720"/>
            <a:ext cx="109728" cy="1143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57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Pior caso (p5)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36576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R$ 14.678,60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4800600"/>
            <a:ext cx="109728" cy="114300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983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1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caso (p95)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49834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R$ 18.296,03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Preços-sombra — onde está o gargalo</a:t>
            </a:r>
            <a:endParaRPr lang="en-US" sz="16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6309360" y="214884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Shape 16"/>
          <p:cNvSpPr/>
          <p:nvPr/>
        </p:nvSpPr>
        <p:spPr>
          <a:xfrm>
            <a:off x="6309360" y="4754880"/>
            <a:ext cx="5330952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583680" y="47548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é o gargalo dominante: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R$ 1 a mais gera R$ 1,23 de lucro. Horas de máquina sobram (preço-sombra zero).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RESULTADOS E CRÍTICA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de Sensibilidade — Orçamento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83080"/>
            <a:ext cx="3913632" cy="4297680"/>
          </a:xfrm>
          <a:prstGeom prst="roundRect">
            <a:avLst>
              <a:gd name="adj" fmla="val 186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001000" y="2057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Retornos decrescentes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001000" y="269748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o orçamento eleva o lucro até cerca de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partir daí a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matéria-prima passa a restringir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lucro estabiliza em R$ 18.378,94.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01000" y="52120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orienta onde investir.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RESULTADOS E CRÍTICA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Explicabilidade (XAI) — sem caixa-preta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“Um gestor raramente aceita uma decisão vinda de uma caixa-preta.” — Shimizu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Preços-sombra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plano é ótimo e onde está o gargalo — explicabilidade nativa da Pesquisa Operacional.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51960" y="24688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2628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628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26280" y="40233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dirige a previsão de demanda: sazonalidade, tendência e vendas recentes.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55280" y="24688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2C3A75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27432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(CLAUDE)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0" y="31546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Linguagem natural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40233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 os números em um parágrafo executivo em português, pronto para o comitê.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4 · RESULTADOS E CRÍTICA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aprendeu · Onde falha · Próximos passos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347472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a IA aprendeu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sazonais da demanda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produtos priorizar sob escassez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recurso limita o lucro (orçamento)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51960" y="1828800"/>
            <a:ext cx="3474720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Onde ela falha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69748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sintéticos não capturam choques reais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Viés do histórico se propaga à previsão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Linearidade ignora ganhos de escala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EEF3FF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55280" y="1828800"/>
            <a:ext cx="347472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818388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697480"/>
            <a:ext cx="29260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com dados reais da empresa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estocástica de 2 estágios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ao ERP para uso semanal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914400"/>
            <a:ext cx="3657600" cy="3657600"/>
          </a:xfrm>
          <a:prstGeom prst="ellipse">
            <a:avLst/>
          </a:prstGeom>
          <a:solidFill>
            <a:srgbClr val="2C3A7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937760"/>
            <a:ext cx="2103120" cy="2103120"/>
          </a:xfrm>
          <a:prstGeom prst="ellipse">
            <a:avLst/>
          </a:prstGeom>
          <a:solidFill>
            <a:srgbClr val="D9A441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DECIDAI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dados a uma decisão defensável.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· Simulação · Otimização · Explicabilidade — um SAD que recomenda e justifica.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Obrigado!  ·  Perguntas?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DecidAI — IA no Processo Decisório</dc:title>
  <dc:subject>PptxGenJS Presentation</dc:subject>
  <dc:creator>Grupo DecidAI</dc:creator>
  <cp:lastModifiedBy>Grupo DecidAI</cp:lastModifiedBy>
  <cp:revision>1</cp:revision>
  <dcterms:created xsi:type="dcterms:W3CDTF">2026-06-25T17:49:42Z</dcterms:created>
  <dcterms:modified xsi:type="dcterms:W3CDTF">2026-06-25T17:49:42Z</dcterms:modified>
</cp:coreProperties>
</file>