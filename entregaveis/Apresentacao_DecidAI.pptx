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Unidades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13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Suco
Integral</c:v>
                  </c:pt>
                  <c:pt idx="1">
                    <c:v>Polpa
Congelada</c:v>
                  </c:pt>
                  <c:pt idx="2">
                    <c:v>Geleia
Artesanal</c:v>
                  </c:pt>
                  <c:pt idx="3">
                    <c:v>Doce
em Barra</c:v>
                  </c:pt>
                  <c:pt idx="4">
                    <c:v>Néctar
Light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1368</c:v>
                </c:pt>
                <c:pt idx="1">
                  <c:v>1023</c:v>
                </c:pt>
                <c:pt idx="2">
                  <c:v>852</c:v>
                </c:pt>
                <c:pt idx="3">
                  <c:v>15</c:v>
                </c:pt>
                <c:pt idx="4">
                  <c:v>1033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13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1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D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1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R$/unidade de recurso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1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Orçamento</c:v>
                  </c:pt>
                  <c:pt idx="1">
                    <c:v>Matéria-prima</c:v>
                  </c:pt>
                  <c:pt idx="2">
                    <c:v>Horas máquina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1.23</c:v>
                </c:pt>
                <c:pt idx="1">
                  <c:v>0.68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1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Lucro ótimo (R$)</c:v>
                </c:pt>
              </c:strCache>
            </c:strRef>
          </c:tx>
          <c:spPr>
            <a:solidFill>
              <a:srgbClr val="D9A441"/>
            </a:solidFill>
            <a:ln w="5080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A441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−20%</c:v>
                  </c:pt>
                  <c:pt idx="1">
                    <c:v>−10%</c:v>
                  </c:pt>
                  <c:pt idx="2">
                    <c:v>base</c:v>
                  </c:pt>
                  <c:pt idx="3">
                    <c:v>+10%</c:v>
                  </c:pt>
                  <c:pt idx="4">
                    <c:v>+20%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14700</c:v>
                </c:pt>
                <c:pt idx="1">
                  <c:v>16500</c:v>
                </c:pt>
                <c:pt idx="2">
                  <c:v>18296</c:v>
                </c:pt>
                <c:pt idx="3">
                  <c:v>18379</c:v>
                </c:pt>
                <c:pt idx="4">
                  <c:v>18379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A61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"/>
          <c:min val="13000"/>
        </c:scaling>
        <c:delete val="0"/>
        <c:axPos val="l"/>
        <c:majorGridlines>
          <c:spPr>
            <a:ln w="6350" cap="flat">
              <a:solidFill>
                <a:srgbClr val="E8ED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1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2C3A75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212080"/>
            <a:ext cx="1554480" cy="1554480"/>
          </a:xfrm>
          <a:prstGeom prst="ellipse">
            <a:avLst/>
          </a:prstGeom>
          <a:solidFill>
            <a:srgbClr val="D9A441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52560" y="457200"/>
            <a:ext cx="1005840" cy="1005840"/>
          </a:xfrm>
          <a:prstGeom prst="ellipse">
            <a:avLst/>
          </a:prstGeom>
          <a:solidFill>
            <a:srgbClr val="CADCFC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 · TÓPICOS ESPECIAIS EM COMPUTAÇÃO II — A (30-772)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DecidAI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Apoio à Decisão para Planejamento de Produção sob Incerteza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no Processo Decisório — Entrega Executiva ao Comitê de Decisão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Dewes  ·  Cesario Stoquero  ·  Samuel Maciel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Santo Ângelo — RS · junho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30 MINUTOS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 da Apresentação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0180" y="2331720"/>
            <a:ext cx="822960" cy="82296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6" name="Text 4"/>
          <p:cNvSpPr/>
          <p:nvPr/>
        </p:nvSpPr>
        <p:spPr>
          <a:xfrm>
            <a:off x="144018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Pitch do Problema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42519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dor que estamos resolvendo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01568" y="192024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3108" y="2331720"/>
            <a:ext cx="822960" cy="82296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4293108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84448" y="33832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Fundamentação Teórica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84448" y="42519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0168" y="47548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Shimizu, Markov, Simplex, XAI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4496" y="192024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46036" y="2331720"/>
            <a:ext cx="822960" cy="82296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7146036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37376" y="33832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Demonstração da Solução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37376" y="42519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83096" y="47548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em funcionamento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07424" y="192024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98964" y="2331720"/>
            <a:ext cx="822960" cy="82296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24" name="Text 22"/>
          <p:cNvSpPr/>
          <p:nvPr/>
        </p:nvSpPr>
        <p:spPr>
          <a:xfrm>
            <a:off x="9998964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90304" y="33832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e Crítica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290304" y="42519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336024" y="47548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aprendeu e onde falha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PITCH DO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Problema: decidir a produção no escuro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AgroVale Alimentos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decide, toda semana,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produzir de cada um dos 5 produtos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hoje no feeling e em planilhas, sob demanda incerta e recursos limitados (máquina, matéria-prima e capital de giro).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5760720" cy="1554480"/>
          </a:xfrm>
          <a:prstGeom prst="roundRect">
            <a:avLst>
              <a:gd name="adj" fmla="val 4706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429768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SEMIESTRUTURADO (Shimizu)
</a:t>
            </a:r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lucro são modeláveis; a demanda futura e o julgamento gerencial, não totalmente.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0" y="178308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B85042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86600" y="20116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Superprodução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08660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Perdas e custo de estoque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(produtos perecíveis)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766560" y="384048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086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Ruptura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086600" y="47091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 perdida 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insatisfeito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PITCH DO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Stakeholders &amp; Objetivos Conflitantes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10972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933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Produção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Estabilidade e ocupação eficiente das máquinas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0" y="182880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0" y="1828800"/>
            <a:ext cx="10972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8"/>
          <p:cNvSpPr/>
          <p:nvPr/>
        </p:nvSpPr>
        <p:spPr>
          <a:xfrm>
            <a:off x="6263640" y="19933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Vendas / Comercial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63640" y="24505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alto para nunca perder venda (nível de serviço)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520440"/>
            <a:ext cx="10972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6850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Financeiro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414223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capital imobilizado e custo de produção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0" y="35204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0" y="3520440"/>
            <a:ext cx="10972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36850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Direção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63640" y="414223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Maximizar o lucro respeitando a capacidade instalada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5349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central: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serviço × custo  —  o SAD torna esse conflito explícito e quantificável.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FUNDAMENTAÇÃO TEÓRICA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Fundamentação: a lógica de Shimizu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“Uma decisão não é apenas um cálculo matemático, mas um processo político e organizacional.”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346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Subsistema de Dados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vendas + parâmetros de negócio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256032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8346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26280" y="3611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Subsistema de Modelos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26280" y="4343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→ Simulação → Otimização → XAI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28346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0" y="3611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Subsistema de Interface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4343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executivo para o decisor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clássica de um Sistema de Apoio à Decisão (SAD)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FUNDAMENTAÇÃO TEÓRICA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Teoria à Técnica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029200"/>
                <a:gridCol w="2953512"/>
              </a:tblGrid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na decisão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 da disciplina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Learning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Prevê a demanda futura por produto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Preditiva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Cadeia de Markov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Modela regimes de mercado (baixa / normal / alta)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estocásticos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 Carlo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 2.000 cenários → risco × incerteza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Simplex / PL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 o mix ótimo sob restrições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 Operacional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XAI (SHAP + duais + LLM)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 a decisão em linguagem de gestor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 da Solução — o Pipeline de Decisão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1993392" cy="1920240"/>
          </a:xfrm>
          <a:prstGeom prst="roundRect">
            <a:avLst>
              <a:gd name="adj" fmla="val 3810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633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18211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Dados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+ parâmetros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496312" y="2468880"/>
            <a:ext cx="3474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798064" y="2468880"/>
            <a:ext cx="1993392" cy="1920240"/>
          </a:xfrm>
          <a:prstGeom prst="roundRect">
            <a:avLst>
              <a:gd name="adj" fmla="val 3810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2633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80944" y="318211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Previsão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80944" y="365760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45736" y="2468880"/>
            <a:ext cx="3474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5047488" y="2468880"/>
            <a:ext cx="1993392" cy="1920240"/>
          </a:xfrm>
          <a:prstGeom prst="roundRect">
            <a:avLst>
              <a:gd name="adj" fmla="val 3810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2633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18211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Incerteza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230368" y="365760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+ Markov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995160" y="2468880"/>
            <a:ext cx="3474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296912" y="2468880"/>
            <a:ext cx="1993392" cy="1920240"/>
          </a:xfrm>
          <a:prstGeom prst="roundRect">
            <a:avLst>
              <a:gd name="adj" fmla="val 3810"/>
            </a:avLst>
          </a:prstGeom>
          <a:solidFill>
            <a:srgbClr val="D9A44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79792" y="2633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9792" y="318211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Decisão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79792" y="365760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Simplex / PL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244584" y="2468880"/>
            <a:ext cx="3474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546336" y="2468880"/>
            <a:ext cx="1993392" cy="1920240"/>
          </a:xfrm>
          <a:prstGeom prst="roundRect">
            <a:avLst>
              <a:gd name="adj" fmla="val 3810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729216" y="2633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29216" y="318211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Explicação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29216" y="365760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2960" y="49377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Subsistema de Interface: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executivo (Streamlit) consome o pipeline e permite simulações what-if.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Demonstração — a IA em Funcionamento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Ajustar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94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Define-se a capacidade da fábrica (máquina, matéria-prima, orçamento)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08760" y="2807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Rodar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21868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prevê, simula e otimiza em segundos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8770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383133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 o plano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24281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produzir de cada produto + lucro e risco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9011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08760" y="485546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Entender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526694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Lê-se a explicação (gargalo + justificativa em PT)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498080" y="1828800"/>
            <a:ext cx="4114800" cy="4114800"/>
          </a:xfrm>
          <a:prstGeom prst="roundRect">
            <a:avLst>
              <a:gd name="adj" fmla="val 177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0" y="2194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AO VIVO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0" y="26974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Streamlit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772400" y="338328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interativos · gráficos · plano recomendado · explicação · análise what-if.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backup disponível caso a demo ao vivo falhe.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RESULTADOS E CRÍTICA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 — Plano Ótimo Recomendado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737360"/>
            <a:ext cx="3913632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semanal ótimo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286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R$ 18.295,64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7726680" y="347472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 não óbvio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em Barra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quase não é produzido (15 un.): apesar da boa margem, consome recursos demais por unidade. A otimização revela o que a intuição não vê.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RESULTADOS E CRÍTICA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Risco (Monte Carlo) &amp; Gargalo (Simplex)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Distribuição de lucro — 2.000 cenários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48840"/>
            <a:ext cx="109728" cy="1143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31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médio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56616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R$ 17.271,96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474720"/>
            <a:ext cx="109728" cy="1143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657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caso (p5)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R$ 14.678,60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800600"/>
            <a:ext cx="109728" cy="1143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983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caso (p95)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66160" y="4983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R$ 18.296,03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Preços-sombra — onde está o gargalo</a:t>
            </a:r>
            <a:endParaRPr lang="en-US" sz="16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309360" y="2148840"/>
          <a:ext cx="53949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6309360" y="4754880"/>
            <a:ext cx="5330952" cy="146304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83680" y="47548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é o gargalo dominante: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R$ 1 a mais gera R$ 1,23 de lucro. Horas de máquina sobram (preço-sombra zero).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RESULTADOS E CRÍTICA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de Sensibilidade — Orçamento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783080"/>
            <a:ext cx="3913632" cy="4297680"/>
          </a:xfrm>
          <a:prstGeom prst="roundRect">
            <a:avLst>
              <a:gd name="adj" fmla="val 186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2057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Retornos decrescentes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001000" y="269748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orçamento eleva o lucro até cerca de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partir daí a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matéria-prima passa a restringir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o lucro estabiliza em R$ 18.378,94.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01000" y="5212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orienta onde investir.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RESULTADOS E CRÍTICA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Explicabilidade (XAI) — sem caixa-preta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“Um gestor raramente aceita uma decisão vinda de uma caixa-preta.” — Shimizu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SIMPLEX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Preços-sombra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0233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plano é ótimo e onde está o gargalo — explicabilidade nativa da Pesquisa Operacional.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24688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3154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26280" y="40233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dirige a previsão de demanda: sazonalidade, tendência e vendas recentes.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24688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2C3A75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(CLAUDE)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0" y="3154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Linguagem natural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0" y="40233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 os números em um parágrafo executivo em português, pronto para o comitê.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RESULTADOS E CRÍTICA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aprendeu · Onde falha · Próximos passos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4297680"/>
          </a:xfrm>
          <a:prstGeom prst="roundRect">
            <a:avLst>
              <a:gd name="adj" fmla="val 2105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3474720" cy="6400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 IA aprendeu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sazonais da demanda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produtos priorizar sob escassez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recurso limita o lucro (orçamento)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51960" y="1828800"/>
            <a:ext cx="3474720" cy="4297680"/>
          </a:xfrm>
          <a:prstGeom prst="roundRect">
            <a:avLst>
              <a:gd name="adj" fmla="val 2105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51960" y="1828800"/>
            <a:ext cx="3474720" cy="6400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828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ela falha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269748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sintéticos não capturam choques reais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do histórico se propaga à previsão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Linearidade ignora ganhos de escala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55280" y="1828800"/>
            <a:ext cx="3474720" cy="4297680"/>
          </a:xfrm>
          <a:prstGeom prst="roundRect">
            <a:avLst>
              <a:gd name="adj" fmla="val 2105"/>
            </a:avLst>
          </a:prstGeom>
          <a:solidFill>
            <a:srgbClr val="EEF3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955280" y="1828800"/>
            <a:ext cx="34747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8183880" y="1828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0" y="269748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dados reais da empresa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estocástica de 2 estágios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ao ERP para uso semanal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914400"/>
            <a:ext cx="3657600" cy="3657600"/>
          </a:xfrm>
          <a:prstGeom prst="ellipse">
            <a:avLst/>
          </a:prstGeom>
          <a:solidFill>
            <a:srgbClr val="2C3A75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937760"/>
            <a:ext cx="2103120" cy="2103120"/>
          </a:xfrm>
          <a:prstGeom prst="ellipse">
            <a:avLst/>
          </a:prstGeom>
          <a:solidFill>
            <a:srgbClr val="D9A441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dados a uma decisão defensável.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· Simulação · Otimização · Explicabilidade — um SAD que recomenda e justifica.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5212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Obrigado!  ·  Perguntas?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DecidAI — IA no Processo Decisório</dc:title>
  <dc:subject>PptxGenJS Presentation</dc:subject>
  <dc:creator>Grupo DecidAI</dc:creator>
  <cp:lastModifiedBy>Grupo DecidAI</cp:lastModifiedBy>
  <cp:revision>1</cp:revision>
  <dcterms:created xsi:type="dcterms:W3CDTF">2026-06-15T12:20:35Z</dcterms:created>
  <dcterms:modified xsi:type="dcterms:W3CDTF">2026-06-15T12:20:35Z</dcterms:modified>
</cp:coreProperties>
</file>